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0"/>
            <a:ext cx="54864" cy="5143500"/>
          </a:xfrm>
          <a:prstGeom prst="rect">
            <a:avLst/>
          </a:prstGeom>
          <a:solidFill>
            <a:srgbClr val="4B9FE1"/>
          </a:solidFill>
          <a:ln w="12700">
            <a:solidFill>
              <a:srgbClr val="4B9F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IPDL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DIC1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20040" y="30175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 — UCAD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Département Génie Informatique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4206240"/>
            <a:ext cx="1371600" cy="347472"/>
          </a:xfrm>
          <a:prstGeom prst="rect">
            <a:avLst/>
          </a:prstGeom>
          <a:solidFill>
            <a:srgbClr val="4B9FE1"/>
          </a:solidFill>
          <a:ln w="12700">
            <a:solidFill>
              <a:srgbClr val="4B9F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2062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5943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9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 Web Institutionnel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10058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UMMISCO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11480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ummisco.ucad.sn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0" y="2560320"/>
            <a:ext cx="4389120" cy="502920"/>
          </a:xfrm>
          <a:prstGeom prst="rect">
            <a:avLst/>
          </a:prstGeom>
          <a:solidFill>
            <a:srgbClr val="0D1E3A"/>
          </a:solidFill>
          <a:ln w="12700">
            <a:solidFill>
              <a:srgbClr val="4B9F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25603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Inception (Création)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0" y="3246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présentés 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0" y="35661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Propositions fonctionnalités &amp; rôles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Recherches bibliographiques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4B9FE1"/>
          </a:solidFill>
          <a:ln w="12700">
            <a:solidFill>
              <a:srgbClr val="4B9F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Équipe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9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membres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IPDL DIC1 — Portail UMMISCO  |  ESP UCAD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0" y="822960"/>
            <a:ext cx="4023360" cy="960120"/>
          </a:xfrm>
          <a:prstGeom prst="rect">
            <a:avLst/>
          </a:prstGeom>
          <a:solidFill>
            <a:srgbClr val="1A3A6B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822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9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60320" y="11155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Cheikh Saliou Mbacké Lô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" y="19385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INGÉNIEURS COMPOSANT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212848"/>
            <a:ext cx="1261872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212848"/>
            <a:ext cx="1261872" cy="10972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322576"/>
            <a:ext cx="1261872" cy="5760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Mame Cheikh Guèye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691640" y="2212848"/>
            <a:ext cx="1261872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691640" y="2212848"/>
            <a:ext cx="1261872" cy="10972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91640" y="2322576"/>
            <a:ext cx="1261872" cy="5760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Mariama Diop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63240" y="2212848"/>
            <a:ext cx="1261872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063240" y="2212848"/>
            <a:ext cx="1261872" cy="10972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63240" y="2322576"/>
            <a:ext cx="1261872" cy="5760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 Touré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26280" y="19385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INGÉNIEURS CAS D'UTILISATION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26280" y="2212848"/>
            <a:ext cx="14173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26280" y="2212848"/>
            <a:ext cx="1417320" cy="10972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2322576"/>
            <a:ext cx="1417320" cy="5760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 Mame Fama Diaw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62472" y="2212848"/>
            <a:ext cx="14173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62472" y="2212848"/>
            <a:ext cx="1417320" cy="10972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62472" y="2322576"/>
            <a:ext cx="1417320" cy="5760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Nassour Abdelsalam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Mahamat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598664" y="2212848"/>
            <a:ext cx="14173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598664" y="2212848"/>
            <a:ext cx="1417320" cy="10972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98664" y="2322576"/>
            <a:ext cx="1417320" cy="5760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Myriam Aïcha Nafissa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Fatim Niang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315468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154680"/>
            <a:ext cx="2651760" cy="7315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" y="322783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29768" y="3575304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technique globale, choix de la stack, architecture système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108960" y="315468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108960" y="3154680"/>
            <a:ext cx="2651760" cy="7315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18688" y="322783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Ingénieur Composant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218688" y="3575304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des composants UI, maquettes, wireframes, design system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897880" y="315468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897880" y="3154680"/>
            <a:ext cx="2651760" cy="73152"/>
          </a:xfrm>
          <a:prstGeom prst="rect">
            <a:avLst/>
          </a:prstGeom>
          <a:solidFill>
            <a:srgbClr val="4B9FE1"/>
          </a:solidFill>
          <a:ln w="12700">
            <a:solidFill>
              <a:srgbClr val="4B9F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07608" y="322783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9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Ingénieur CU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007608" y="3575304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des cas d'utilisation, diagrammes UML, scénarios utilisateurs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4B9FE1"/>
          </a:solidFill>
          <a:ln w="12700">
            <a:solidFill>
              <a:srgbClr val="4B9F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— 4 Livrables Initiaux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IPDL DIC1 — Portail UMMISCO  |  ESP UCAD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201168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22960"/>
            <a:ext cx="2011680" cy="7315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4124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5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29768" y="155448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9768" y="2176272"/>
            <a:ext cx="17922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des pages principales du portail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(accueil, publications, axes, datasets, admin)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822960"/>
            <a:ext cx="201168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822960"/>
            <a:ext cx="2011680" cy="73152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84124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5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578608" y="155448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78608" y="2176272"/>
            <a:ext cx="17922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classes UML, choix technique de la stack front/back/BDD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822960"/>
            <a:ext cx="201168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822960"/>
            <a:ext cx="2011680" cy="7315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84124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5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727448" y="155448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Rôles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27448" y="2176272"/>
            <a:ext cx="17922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Diagrammes de cas d'utilisation par acteur (6 acteurs identifiés)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66560" y="822960"/>
            <a:ext cx="201168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822960"/>
            <a:ext cx="2011680" cy="731520"/>
          </a:xfrm>
          <a:prstGeom prst="rect">
            <a:avLst/>
          </a:prstGeom>
          <a:solidFill>
            <a:srgbClr val="6B3A8A"/>
          </a:solidFill>
          <a:ln w="12700">
            <a:solidFill>
              <a:srgbClr val="6B3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84124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5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876288" y="155448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6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76288" y="2176272"/>
            <a:ext cx="17922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sites de référence : IRD, CIRAD, Zenodo — bonnes pratiques retenues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4B9FE1"/>
          </a:solidFill>
          <a:ln w="12700">
            <a:solidFill>
              <a:srgbClr val="4B9F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1 — Maquette : Page d'Accueil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9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propositions de design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IPDL DIC1 — Portail UMMISCO  |  ESP UCAD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A — Design épuré bleu/blanc</a:t>
            </a:r>
            <a:endParaRPr lang="en-US" sz="1100" dirty="0"/>
          </a:p>
        </p:txBody>
      </p:sp>
      <p:pic>
        <p:nvPicPr>
          <p:cNvPr id="9" name="Image 0" descr="/mnt/user-data/uploads/1777416210620_WhatsApp_Image_2026-04-28_at_21_53_01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51560"/>
            <a:ext cx="4114800" cy="23317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754880" y="777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B — Design premium vert/crème</a:t>
            </a:r>
            <a:endParaRPr lang="en-US" sz="1100" dirty="0"/>
          </a:p>
        </p:txBody>
      </p:sp>
      <p:pic>
        <p:nvPicPr>
          <p:cNvPr id="11" name="Image 1" descr="/mnt/user-data/uploads/1777416224962_WhatsApp_Image_2026-04-28_at_22_03_54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1051560"/>
            <a:ext cx="4114800" cy="23317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90288" y="777240"/>
            <a:ext cx="0" cy="26060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3566160"/>
            <a:ext cx="8503920" cy="1188720"/>
          </a:xfrm>
          <a:prstGeom prst="rect">
            <a:avLst/>
          </a:prstGeom>
          <a:solidFill>
            <a:srgbClr val="E8F0FA"/>
          </a:solidFill>
          <a:ln w="6350">
            <a:solidFill>
              <a:srgbClr val="4B9FE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36118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Éléments communs aux deux maquettes :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7200" y="3895344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multilingue FR/EN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Compteurs statistiques (publications, chercheurs, datasets, partenaires)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rapide publications + datasets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IA intégré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actualités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4B9FE1"/>
          </a:solidFill>
          <a:ln w="12700">
            <a:solidFill>
              <a:srgbClr val="4B9F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1 — Maquette : Autres Pages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IPDL DIC1 — Portail UMMISCO  |  ESP UCAD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Thématiques</a:t>
            </a:r>
            <a:endParaRPr lang="en-US" sz="1000" dirty="0"/>
          </a:p>
        </p:txBody>
      </p:sp>
      <p:pic>
        <p:nvPicPr>
          <p:cNvPr id="8" name="Image 0" descr="/mnt/user-data/uploads/1777416231924_WhatsApp_Image_2026-04-28_at_22_04_23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78992"/>
            <a:ext cx="4114800" cy="1691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800600" y="8046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 Récentes</a:t>
            </a:r>
            <a:endParaRPr lang="en-US" sz="1000" dirty="0"/>
          </a:p>
        </p:txBody>
      </p:sp>
      <p:pic>
        <p:nvPicPr>
          <p:cNvPr id="10" name="Image 1" descr="/mnt/user-data/uploads/1777416242167_WhatsApp_Image_2026-04-28_at_22_04_44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00600" y="1078992"/>
            <a:ext cx="4114800" cy="1691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" y="29535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IA Intégré</a:t>
            </a:r>
            <a:endParaRPr lang="en-US" sz="1000" dirty="0"/>
          </a:p>
        </p:txBody>
      </p:sp>
      <p:pic>
        <p:nvPicPr>
          <p:cNvPr id="12" name="Image 2" descr="/mnt/user-data/uploads/1777416256909_WhatsApp_Image_2026-04-28_at_22_05_08.jpe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20040" y="3227832"/>
            <a:ext cx="4114800" cy="1691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00600" y="29535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Actualités &amp; Événements</a:t>
            </a:r>
            <a:endParaRPr lang="en-US" sz="1000" dirty="0"/>
          </a:p>
        </p:txBody>
      </p:sp>
      <p:pic>
        <p:nvPicPr>
          <p:cNvPr id="14" name="Image 3" descr="/mnt/user-data/uploads/1777416271165_WhatsApp_Image_2026-04-28_at_22_05_36.jpe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800600" y="3227832"/>
            <a:ext cx="4114800" cy="169164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553712" y="804672"/>
            <a:ext cx="0" cy="406908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320040" y="2971800"/>
            <a:ext cx="850392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4B9FE1"/>
          </a:solidFill>
          <a:ln w="12700">
            <a:solidFill>
              <a:srgbClr val="4B9F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2 — Architecture &amp; Diagramme de Classes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IPDL DIC1 — Portail UMMISCO  |  ESP UCAD</a:t>
            </a:r>
            <a:endParaRPr lang="en-US" sz="800" dirty="0"/>
          </a:p>
        </p:txBody>
      </p:sp>
      <p:pic>
        <p:nvPicPr>
          <p:cNvPr id="7" name="Image 0" descr="/mnt/user-data/uploads/1777416202170_WhatsApp_Image_2026-04-28_at_21_51_55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777240"/>
            <a:ext cx="5303520" cy="3977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52160" y="804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 proposée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852160" y="1170432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52160" y="1170432"/>
            <a:ext cx="64008" cy="4572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11704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086600" y="11704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Tailwind CSS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52160" y="1682496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52160" y="1682496"/>
            <a:ext cx="64008" cy="457200"/>
          </a:xfrm>
          <a:prstGeom prst="rect">
            <a:avLst/>
          </a:prstGeom>
          <a:solidFill>
            <a:srgbClr val="4B9FE1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168249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086600" y="168249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Laravel (PHP)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852160" y="219456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852160" y="2194560"/>
            <a:ext cx="64008" cy="4572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89320" y="2194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086600" y="2194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852160" y="2706624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852160" y="2706624"/>
            <a:ext cx="64008" cy="457200"/>
          </a:xfrm>
          <a:prstGeom prst="rect">
            <a:avLst/>
          </a:prstGeom>
          <a:solidFill>
            <a:srgbClr val="4B9FE1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89320" y="270662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086600" y="270662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— séparation Front/Back/BDD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852160" y="3218688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852160" y="3218688"/>
            <a:ext cx="64008" cy="4572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89320" y="32186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086600" y="32186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Serveurs UCAD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52160" y="3730752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852160" y="3730752"/>
            <a:ext cx="64008" cy="457200"/>
          </a:xfrm>
          <a:prstGeom prst="rect">
            <a:avLst/>
          </a:prstGeom>
          <a:solidFill>
            <a:srgbClr val="4B9FE1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89320" y="37307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Multilingue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086600" y="37307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FR/EN (par défaut FR)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852160" y="4315968"/>
            <a:ext cx="3017520" cy="4114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52160" y="43159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classes identifiées  ·  2 relations d'héritage  ·  1 &lt;&lt;include&gt;&gt;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4B9FE1"/>
          </a:solidFill>
          <a:ln w="12700">
            <a:solidFill>
              <a:srgbClr val="4B9F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3 — Cas d'Utilisation : 6 Acteurs Identifiés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IPDL DIC1 — Portail UMMISCO  |  ESP UCAD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777240"/>
            <a:ext cx="2651760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777240"/>
            <a:ext cx="2651760" cy="347472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7772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Visiteur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1247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cas d'utilisation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27248" y="777240"/>
            <a:ext cx="2651760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27248" y="777240"/>
            <a:ext cx="2651760" cy="347472"/>
          </a:xfrm>
          <a:prstGeom prst="rect">
            <a:avLst/>
          </a:prstGeom>
          <a:solidFill>
            <a:srgbClr val="3A8A3A"/>
          </a:solidFill>
          <a:ln w="12700">
            <a:solidFill>
              <a:srgbClr val="3A8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18688" y="7772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18688" y="11247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cas d'utilisation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18688" y="13990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Hérite CU Visiteur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25312" y="777240"/>
            <a:ext cx="2651760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25312" y="777240"/>
            <a:ext cx="2651760" cy="347472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16752" y="7772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Chercheur / Doctorant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16752" y="11247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cas d'utilisation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16752" y="13990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Hérite CU Étudiant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880360"/>
            <a:ext cx="2651760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880360"/>
            <a:ext cx="2651760" cy="347472"/>
          </a:xfrm>
          <a:prstGeom prst="rect">
            <a:avLst/>
          </a:prstGeom>
          <a:solidFill>
            <a:srgbClr val="5A4A8A"/>
          </a:solidFill>
          <a:ln w="12700">
            <a:solidFill>
              <a:srgbClr val="5A4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8803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 Axe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2278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cas d'utilisation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35021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Hérite CU Chercheur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27248" y="2880360"/>
            <a:ext cx="2651760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27248" y="2880360"/>
            <a:ext cx="2651760" cy="347472"/>
          </a:xfrm>
          <a:prstGeom prst="rect">
            <a:avLst/>
          </a:prstGeom>
          <a:solidFill>
            <a:srgbClr val="8A6A1A"/>
          </a:solidFill>
          <a:ln w="12700">
            <a:solidFill>
              <a:srgbClr val="8A6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18688" y="28803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18688" y="32278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6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cas d'utilisation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18688" y="35021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Hérite CU Visiteur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25312" y="2880360"/>
            <a:ext cx="2651760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25312" y="2880360"/>
            <a:ext cx="2651760" cy="347472"/>
          </a:xfrm>
          <a:prstGeom prst="rect">
            <a:avLst/>
          </a:prstGeom>
          <a:solidFill>
            <a:srgbClr val="8A2A2A"/>
          </a:solidFill>
          <a:ln w="12700">
            <a:solidFill>
              <a:srgbClr val="8A2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16752" y="28803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Directeur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16752" y="32278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cas d'utilisation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16752" y="35021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Hérite CU Chercheur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4773168"/>
            <a:ext cx="8503920" cy="1828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4B9FE1"/>
          </a:solidFill>
          <a:ln w="12700">
            <a:solidFill>
              <a:srgbClr val="4B9F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 — Visiteur &amp; Étudiant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IPDL DIC1 — Portail UMMISCO  |  ESP UCAD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Visiteur (9 CU)</a:t>
            </a:r>
            <a:endParaRPr lang="en-US" sz="1200" dirty="0"/>
          </a:p>
        </p:txBody>
      </p:sp>
      <p:pic>
        <p:nvPicPr>
          <p:cNvPr id="8" name="Image 0" descr="/mnt/user-data/uploads/1777416146548_WhatsApp_Image_2026-04-28_at_21_47_18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24128"/>
            <a:ext cx="4114800" cy="35661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90288" y="749808"/>
            <a:ext cx="0" cy="416052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54880" y="7498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 (5 CU + héritage Visiteur)</a:t>
            </a:r>
            <a:endParaRPr lang="en-US" sz="1200" dirty="0"/>
          </a:p>
        </p:txBody>
      </p:sp>
      <p:pic>
        <p:nvPicPr>
          <p:cNvPr id="11" name="Image 1" descr="/mnt/user-data/uploads/1777416151774_WhatsApp_Image_2026-04-28_at_21_47_20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1024128"/>
            <a:ext cx="411480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4B9FE1"/>
          </a:solidFill>
          <a:ln w="12700">
            <a:solidFill>
              <a:srgbClr val="4B9F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 — Chercheur/Doctorant &amp; Responsable d'Axe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IPDL DIC1 — Portail UMMISCO  |  ESP UCAD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Chercheur / Doctorant (9 CU + héritage Étudiant)</a:t>
            </a:r>
            <a:endParaRPr lang="en-US" sz="1200" dirty="0"/>
          </a:p>
        </p:txBody>
      </p:sp>
      <p:pic>
        <p:nvPicPr>
          <p:cNvPr id="8" name="Image 0" descr="/mnt/user-data/uploads/1777416158391_WhatsApp_Image_2026-04-28_at_21_47_20__1_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24128"/>
            <a:ext cx="4114800" cy="35661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90288" y="749808"/>
            <a:ext cx="0" cy="416052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54880" y="7498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d'Axe (4 CU + héritage Chercheur)</a:t>
            </a:r>
            <a:endParaRPr lang="en-US" sz="1200" dirty="0"/>
          </a:p>
        </p:txBody>
      </p:sp>
      <p:pic>
        <p:nvPicPr>
          <p:cNvPr id="11" name="Image 1" descr="/mnt/user-data/uploads/1777416165746_WhatsApp_Image_2026-04-28_at_21_47_21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1024128"/>
            <a:ext cx="411480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4B9FE1"/>
          </a:solidFill>
          <a:ln w="12700">
            <a:solidFill>
              <a:srgbClr val="4B9F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 — Partenaire &amp; Directeur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IPDL DIC1 — Portail UMMISCO  |  ESP UCAD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 (5 CU + héritage Visiteur)</a:t>
            </a:r>
            <a:endParaRPr lang="en-US" sz="1200" dirty="0"/>
          </a:p>
        </p:txBody>
      </p:sp>
      <p:pic>
        <p:nvPicPr>
          <p:cNvPr id="8" name="Image 0" descr="/mnt/user-data/uploads/1777416171229_WhatsApp_Image_2026-04-28_at_21_47_21__1_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24128"/>
            <a:ext cx="4114800" cy="35661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90288" y="749808"/>
            <a:ext cx="0" cy="416052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54880" y="7498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Directeur (8 CU + héritage Chercheur)</a:t>
            </a:r>
            <a:endParaRPr lang="en-US" sz="1200" dirty="0"/>
          </a:p>
        </p:txBody>
      </p:sp>
      <p:pic>
        <p:nvPicPr>
          <p:cNvPr id="11" name="Image 1" descr="/mnt/user-data/uploads/1777416190398_WhatsApp_Image_2026-04-28_at_21_47_22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1024128"/>
            <a:ext cx="411480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4B9FE1"/>
          </a:solidFill>
          <a:ln w="12700">
            <a:solidFill>
              <a:srgbClr val="4B9F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4 — Recherches Bibliographiques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IPDL DIC1 — Portail UMMISCO  |  ESP UCAD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27432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04672"/>
            <a:ext cx="2743200" cy="54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804672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IRD — ird.fr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" y="1371600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de Recherche pour le Développement. Portail institutionnel de référence.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208483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retenus 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2359152"/>
            <a:ext cx="2523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thématique claire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chercheurs détaillés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 indexées Google Scholar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72968" y="804672"/>
            <a:ext cx="27432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804672"/>
            <a:ext cx="2743200" cy="54864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2696" y="804672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CIRAD — cirad.fr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82696" y="1371600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de coopération internationale en recherche agronomique.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82696" y="208483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retenus 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82696" y="2359152"/>
            <a:ext cx="2523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avancée des datasets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Licences Creative Commons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multilingue FR/EN/ES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25896" y="804672"/>
            <a:ext cx="27432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25896" y="804672"/>
            <a:ext cx="2743200" cy="54864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35624" y="804672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Zenodo — zenodo.org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35624" y="1371600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open science du CERN pour données et publications.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35624" y="208483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retenus 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35624" y="2359152"/>
            <a:ext cx="2523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 automatique pour chaque dépôt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Métadonnées structurées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ouvert par défaut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800600"/>
            <a:ext cx="8503920" cy="0"/>
          </a:xfrm>
          <a:prstGeom prst="rect">
            <a:avLst/>
          </a:prstGeom>
          <a:noFill/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4B9FE1"/>
          </a:solidFill>
          <a:ln w="12700">
            <a:solidFill>
              <a:srgbClr val="4B9F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de Gestion &amp; Prochaines Étapes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IPDL DIC1 — Portail UMMISCO  |  ESP UCAD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de gestion de projet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207008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207008"/>
            <a:ext cx="73152" cy="594360"/>
          </a:xfrm>
          <a:prstGeom prst="rect">
            <a:avLst/>
          </a:prstGeom>
          <a:solidFill>
            <a:srgbClr val="0079BF"/>
          </a:solidFill>
          <a:ln w="12700">
            <a:solidFill>
              <a:srgbClr val="0079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20700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08760" y="120700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tâches par livrable (tableaux Kanban)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883664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883664"/>
            <a:ext cx="73152" cy="594360"/>
          </a:xfrm>
          <a:prstGeom prst="rect">
            <a:avLst/>
          </a:prstGeom>
          <a:solidFill>
            <a:srgbClr val="24292E"/>
          </a:solidFill>
          <a:ln w="12700">
            <a:solidFill>
              <a:srgbClr val="2429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883664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08760" y="1883664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du code et de la documentation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560320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560320"/>
            <a:ext cx="73152" cy="594360"/>
          </a:xfrm>
          <a:prstGeom prst="rect">
            <a:avLst/>
          </a:prstGeom>
          <a:solidFill>
            <a:srgbClr val="A259FF"/>
          </a:solidFill>
          <a:ln w="12700">
            <a:solidFill>
              <a:srgbClr val="A259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5603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25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08760" y="25603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des maquettes et du design system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236976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236976"/>
            <a:ext cx="73152" cy="594360"/>
          </a:xfrm>
          <a:prstGeom prst="rect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236976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08760" y="3236976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des livrables dans le groupe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913632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913632"/>
            <a:ext cx="73152" cy="59436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913632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StarUML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508760" y="391363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des diagrammes UML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90288" y="804672"/>
            <a:ext cx="0" cy="416052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 — Phase 2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54880" y="1207008"/>
            <a:ext cx="411480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1207008"/>
            <a:ext cx="384048" cy="78638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207008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230368" y="12070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itérations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30368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 de la stack technique et premier sprint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2084832"/>
            <a:ext cx="411480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2084832"/>
            <a:ext cx="384048" cy="78638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2084832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230368" y="208483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Diagrammes de séquences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230368" y="241401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des flux entre acteurs et système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2962656"/>
            <a:ext cx="411480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2962656"/>
            <a:ext cx="384048" cy="78638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2962656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230368" y="296265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fonctionnel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30368" y="32918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version navigable du portail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54880" y="3840480"/>
            <a:ext cx="411480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54880" y="3840480"/>
            <a:ext cx="384048" cy="78638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384048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230368" y="384048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utilisateurs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230368" y="416966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fonctionnalités avec les parties prenantes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B9FE1"/>
          </a:solidFill>
          <a:ln w="12700">
            <a:solidFill>
              <a:srgbClr val="4B9F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B9FE1"/>
          </a:solidFill>
          <a:ln w="12700">
            <a:solidFill>
              <a:srgbClr val="4B9F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200400" y="2286000"/>
            <a:ext cx="2743200" cy="0"/>
          </a:xfrm>
          <a:prstGeom prst="line">
            <a:avLst/>
          </a:prstGeom>
          <a:noFill/>
          <a:ln w="25400">
            <a:solidFill>
              <a:srgbClr val="4B9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14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 Web Institutionnel UMMISCO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IPDL DIC1 — ESP UCAD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B9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IPDL DIC1 — Portail UMMISCO</dc:title>
  <dc:subject>PptxGenJS Presentation</dc:subject>
  <dc:creator>PptxGenJS</dc:creator>
  <cp:lastModifiedBy>PptxGenJS</cp:lastModifiedBy>
  <cp:revision>1</cp:revision>
  <dcterms:created xsi:type="dcterms:W3CDTF">2026-04-28T22:58:26Z</dcterms:created>
  <dcterms:modified xsi:type="dcterms:W3CDTF">2026-04-28T22:58:26Z</dcterms:modified>
</cp:coreProperties>
</file>