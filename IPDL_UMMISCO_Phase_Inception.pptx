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A5C3A">
              <a:alpha val="15000"/>
            </a:srgbClr>
          </a:solidFill>
          <a:ln w="12700">
            <a:solidFill>
              <a:srgbClr val="1A5C3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828800"/>
            <a:ext cx="2286000" cy="3314700"/>
          </a:xfrm>
          <a:prstGeom prst="rect">
            <a:avLst/>
          </a:prstGeom>
          <a:solidFill>
            <a:srgbClr val="2D7A52">
              <a:alpha val="10000"/>
            </a:srgbClr>
          </a:solidFill>
          <a:ln w="12700">
            <a:solidFill>
              <a:srgbClr val="2D7A52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spc="800" kern="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IPDL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d'Inception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AA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 Institutionnel UMMISCO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3657600" cy="45720"/>
          </a:xfrm>
          <a:prstGeom prst="rect">
            <a:avLst/>
          </a:prstGeom>
          <a:solidFill>
            <a:srgbClr val="2D7A52"/>
          </a:solidFill>
          <a:ln w="12700">
            <a:solidFill>
              <a:srgbClr val="2D7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  |  </a:t>
            </a:r>
            <a:pPr indent="0" marL="0">
              <a:buNone/>
            </a:pPr>
            <a:r>
              <a:rPr lang="en-US" sz="1500" dirty="0">
                <a:solidFill>
                  <a:srgbClr val="AA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Increments  |  </a:t>
            </a:r>
            <a:pPr indent="0" marL="0">
              <a:buNone/>
            </a:pPr>
            <a:r>
              <a:rPr lang="en-US" sz="1500" b="1" dirty="0">
                <a:solidFill>
                  <a:srgbClr val="AA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 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7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Departement Genie Informatique — ESP / UCAD — 2025-2026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5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Phase d'Inception dans le PU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A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question a repondre 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96012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projet vaut-il la peine d'etre lance 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63040" y="2606040"/>
            <a:ext cx="731520" cy="731520"/>
          </a:xfrm>
          <a:prstGeom prst="ellipse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2715768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4015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5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Comprendre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94360" y="382219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le probleme, le contexte et les besoins grossiers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37560" y="251460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43400" y="2606040"/>
            <a:ext cx="731520" cy="731520"/>
          </a:xfrm>
          <a:prstGeom prst="ellipse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2715768"/>
            <a:ext cx="512064" cy="5120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29000" y="34015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5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Valider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474720" y="382219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Confronter avec les acteurs reels du terrain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17920" y="251460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23760" y="2606040"/>
            <a:ext cx="731520" cy="731520"/>
          </a:xfrm>
          <a:prstGeom prst="ellipse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2715768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9360" y="34015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5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Decider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355080" y="382219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Repondre formellement au Jalon 1 et planifier la suite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Vue d'ensemble — 3 iterations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64592" cy="109728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960120"/>
            <a:ext cx="806500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143000"/>
            <a:ext cx="731520" cy="731520"/>
          </a:xfrm>
          <a:prstGeom prst="ellipse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143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06984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5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Comprendre le probleme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15270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: Document de vision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2075688"/>
            <a:ext cx="320040" cy="320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7200" y="2286000"/>
            <a:ext cx="164592" cy="109728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1792" y="2286000"/>
            <a:ext cx="806500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2468880"/>
            <a:ext cx="731520" cy="731520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645920" y="23957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Valider les besoins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645920" y="28529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: CU + Classes + CR</a:t>
            </a:r>
            <a:endParaRPr lang="en-US" sz="13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3401568"/>
            <a:ext cx="320040" cy="3200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57200" y="3611880"/>
            <a:ext cx="164592" cy="1097280"/>
          </a:xfrm>
          <a:prstGeom prst="rect">
            <a:avLst/>
          </a:prstGeom>
          <a:solidFill>
            <a:srgbClr val="7A4A10"/>
          </a:solidFill>
          <a:ln w="12700">
            <a:solidFill>
              <a:srgbClr val="7A4A1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1792" y="3611880"/>
            <a:ext cx="806500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77240" y="3794760"/>
            <a:ext cx="731520" cy="731520"/>
          </a:xfrm>
          <a:prstGeom prst="ellipse">
            <a:avLst/>
          </a:prstGeom>
          <a:solidFill>
            <a:srgbClr val="7A4A10"/>
          </a:solidFill>
          <a:ln w="12700">
            <a:solidFill>
              <a:srgbClr val="7A4A1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77240" y="3794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1645920" y="372160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4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Evaluer la faisabilite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1645920" y="41788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: Architecture + Jalon 1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Comprendre le probleme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658368"/>
          </a:xfrm>
          <a:prstGeom prst="rect">
            <a:avLst/>
          </a:prstGeom>
          <a:solidFill>
            <a:srgbClr val="E8F3ED"/>
          </a:solidFill>
          <a:ln w="12700">
            <a:solidFill>
              <a:srgbClr val="C5E0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</a:t>
            </a:r>
            <a:pPr indent="0" marL="0"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le perimetre, analyser le probleme et dresser un etat de l'existant.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011680"/>
            <a:ext cx="1920240" cy="41148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11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173736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Enonce du projet + site ummisco.fr existant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42032" y="201168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42032" y="2011680"/>
            <a:ext cx="1920240" cy="41148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2011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33472" y="2487168"/>
            <a:ext cx="173736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critique du site. Benchmark : ResearchGate, HAL, Zenodo, INRIA. Redaction document de vision. Premiere liste acteurs.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26864" y="201168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2011680"/>
            <a:ext cx="1920240" cy="411480"/>
          </a:xfrm>
          <a:prstGeom prst="rect">
            <a:avLst/>
          </a:prstGeom>
          <a:solidFill>
            <a:srgbClr val="7A4A10"/>
          </a:solidFill>
          <a:ln w="12700">
            <a:solidFill>
              <a:srgbClr val="7A4A1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2584" y="2011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8304" y="2487168"/>
            <a:ext cx="173736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de vision : contexte, probleme, objectifs, utilisateurs cibles.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11696" y="201168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11696" y="2011680"/>
            <a:ext cx="1920240" cy="411480"/>
          </a:xfrm>
          <a:prstGeom prst="rect">
            <a:avLst/>
          </a:prstGeom>
          <a:solidFill>
            <a:srgbClr val="3D3D3A"/>
          </a:solidFill>
          <a:ln w="12700">
            <a:solidFill>
              <a:srgbClr val="3D3D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57416" y="2011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a appris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03136" y="2487168"/>
            <a:ext cx="173736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 est obsolete. UMMISCO a des besoins specifiques. Un portail sur mesure est necessaire.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Valider les besoins reels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658368"/>
          </a:xfrm>
          <a:prstGeom prst="rect">
            <a:avLst/>
          </a:prstGeom>
          <a:solidFill>
            <a:srgbClr val="D6E8F7"/>
          </a:solidFill>
          <a:ln w="12700">
            <a:solidFill>
              <a:srgbClr val="B0CD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</a:t>
            </a:r>
            <a:pPr indent="0" marL="0"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Confronter notre analyse au terrain en rencontrant les representants UMMISCO et modeliser les besoins.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011680"/>
            <a:ext cx="1920240" cy="41148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11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173736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de vision (iter.1). Liste preliminaire d'acteurs. Questions ouvertes : roles, simulations, droits.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42032" y="201168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42032" y="2011680"/>
            <a:ext cx="1920240" cy="41148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2011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33472" y="2487168"/>
            <a:ext cx="173736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Rencontre acteurs UMMISCO. 2 comptes rendus. Diagrammes CU (1/acteur). Diagramme de classes. Risques identifes.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26864" y="201168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2011680"/>
            <a:ext cx="1920240" cy="411480"/>
          </a:xfrm>
          <a:prstGeom prst="rect">
            <a:avLst/>
          </a:prstGeom>
          <a:solidFill>
            <a:srgbClr val="7A4A10"/>
          </a:solidFill>
          <a:ln w="12700">
            <a:solidFill>
              <a:srgbClr val="7A4A1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2584" y="2011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8304" y="2487168"/>
            <a:ext cx="173736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acteurs + hierarchie. Diagrammes CU. Diagramme classes (9 entites). Decisions : ACL, 3 niveaux donnees, iframes.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11696" y="201168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11696" y="2011680"/>
            <a:ext cx="1920240" cy="411480"/>
          </a:xfrm>
          <a:prstGeom prst="rect">
            <a:avLst/>
          </a:prstGeom>
          <a:solidFill>
            <a:srgbClr val="3D3D3A"/>
          </a:solidFill>
          <a:ln w="12700">
            <a:solidFill>
              <a:srgbClr val="3D3D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57416" y="2011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a appris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03136" y="2487168"/>
            <a:ext cx="173736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dynamiques via ACL. Simulations = iframes. Validation humaine privilegiee sur IA pour les contenus.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Decisions actees — Rencontre acteurs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points cles valides lors des echanges avec les representants UMMISCO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109728" cy="109728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81328"/>
            <a:ext cx="685800" cy="685800"/>
          </a:xfrm>
          <a:prstGeom prst="ellipse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581912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37160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Modele ACL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63040" y="1755648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granulaires, roles crees dynamiquement par l'admin. Auth via Keycloak.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0" y="12801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280160"/>
            <a:ext cx="109728" cy="109728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47488" y="1481328"/>
            <a:ext cx="685800" cy="685800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72" y="1581912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52160" y="137160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niveaux de donnees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852160" y="1755648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Protege (membres UMMISCO), Prive (proprietaire uniquement).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254203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2542032"/>
            <a:ext cx="109728" cy="1097280"/>
          </a:xfrm>
          <a:prstGeom prst="rect">
            <a:avLst/>
          </a:prstGeom>
          <a:solidFill>
            <a:srgbClr val="7A4A10"/>
          </a:solidFill>
          <a:ln w="12700">
            <a:solidFill>
              <a:srgbClr val="7A4A1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58368" y="2743200"/>
            <a:ext cx="685800" cy="685800"/>
          </a:xfrm>
          <a:prstGeom prst="ellipse">
            <a:avLst/>
          </a:prstGeom>
          <a:solidFill>
            <a:srgbClr val="7A4A10"/>
          </a:solidFill>
          <a:ln w="12700">
            <a:solidFill>
              <a:srgbClr val="7A4A1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843784"/>
            <a:ext cx="475488" cy="4754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2633472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4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Double flux publication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463040" y="30175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Chercheurs : direct. Etudiants/doctorants : validation humaine obligatoire.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846320" y="254203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846320" y="2542032"/>
            <a:ext cx="109728" cy="109728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047488" y="2743200"/>
            <a:ext cx="685800" cy="685800"/>
          </a:xfrm>
          <a:prstGeom prst="ellipse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72" y="2843784"/>
            <a:ext cx="475488" cy="4754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852160" y="2633472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Simulations = iframes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852160" y="30175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des outils doctoraux (Evelop, carbone, capteurs) via iframes sans moteur lourd.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57200" y="3803904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7200" y="3803904"/>
            <a:ext cx="109728" cy="109728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58368" y="4005072"/>
            <a:ext cx="685800" cy="685800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4105656"/>
            <a:ext cx="475488" cy="47548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463040" y="3895344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 / Back separes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1463040" y="427939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physique et logique pour la securite SI. Hebergement serveur UCAD.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4846320" y="3803904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4846320" y="3803904"/>
            <a:ext cx="109728" cy="1097280"/>
          </a:xfrm>
          <a:prstGeom prst="rect">
            <a:avLst/>
          </a:prstGeom>
          <a:solidFill>
            <a:srgbClr val="7A4A10"/>
          </a:solidFill>
          <a:ln w="12700">
            <a:solidFill>
              <a:srgbClr val="7A4A10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5047488" y="4005072"/>
            <a:ext cx="685800" cy="685800"/>
          </a:xfrm>
          <a:prstGeom prst="ellipse">
            <a:avLst/>
          </a:prstGeom>
          <a:solidFill>
            <a:srgbClr val="7A4A10"/>
          </a:solidFill>
          <a:ln w="12700">
            <a:solidFill>
              <a:srgbClr val="7A4A10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8072" y="4105656"/>
            <a:ext cx="475488" cy="47548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852160" y="3895344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4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Multilinguisme FR/EN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5852160" y="427939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natif avec adaptation dynamique. Dark mode obligatoire.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7A4A10"/>
          </a:solidFill>
          <a:ln w="12700">
            <a:solidFill>
              <a:srgbClr val="7A4A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C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Evaluer la faisabilite — Jalon 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658368"/>
          </a:xfrm>
          <a:prstGeom prst="rect">
            <a:avLst/>
          </a:prstGeom>
          <a:solidFill>
            <a:srgbClr val="FDF0DC"/>
          </a:solidFill>
          <a:ln w="12700">
            <a:solidFill>
              <a:srgbClr val="E8CC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4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</a:t>
            </a:r>
            <a:pPr indent="0" marL="0"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Repondre a la question du Jalon 1 — faisabilite technique et organisationnelle du projet.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011680"/>
            <a:ext cx="1920240" cy="41148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11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173736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valides (iter.2). CU stables. React acte. Backend en arbitrage.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42032" y="201168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42032" y="2011680"/>
            <a:ext cx="1920240" cy="41148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2011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33472" y="2487168"/>
            <a:ext cx="173736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4 couches definie. Risques evalues. Maquette haute fidelite. Priorisation fonctionnalites.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26864" y="201168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2011680"/>
            <a:ext cx="1920240" cy="411480"/>
          </a:xfrm>
          <a:prstGeom prst="rect">
            <a:avLst/>
          </a:prstGeom>
          <a:solidFill>
            <a:srgbClr val="7A4A10"/>
          </a:solidFill>
          <a:ln w="12700">
            <a:solidFill>
              <a:srgbClr val="7A4A1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2584" y="2011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8304" y="2487168"/>
            <a:ext cx="173736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 reference. Maquette HD page accueil. Reponse argumentee au Jalon 1.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11696" y="201168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11696" y="2011680"/>
            <a:ext cx="1920240" cy="411480"/>
          </a:xfrm>
          <a:prstGeom prst="rect">
            <a:avLst/>
          </a:prstGeom>
          <a:solidFill>
            <a:srgbClr val="3D3D3A"/>
          </a:solidFill>
          <a:ln w="12700">
            <a:solidFill>
              <a:srgbClr val="3D3D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57416" y="2011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a appris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03136" y="2487168"/>
            <a:ext cx="173736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front/back indispensable. PWA pertinent pour mobilite africaine. Dark mode requis.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15"/>
          </a:solidFill>
          <a:ln w="12700">
            <a:solidFill>
              <a:srgbClr val="0F1F1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5C3A">
              <a:alpha val="8000"/>
            </a:srgbClr>
          </a:solidFill>
          <a:ln w="12700">
            <a:solidFill>
              <a:srgbClr val="1A5C3A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0" kern="0" dirty="0">
                <a:solidFill>
                  <a:srgbClr val="2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 centrale 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projet est-il faisable avec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nos ressources et notre temps ?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286000" y="3108960"/>
            <a:ext cx="4572000" cy="804672"/>
          </a:xfrm>
          <a:prstGeom prst="rect">
            <a:avLst/>
          </a:prstGeom>
          <a:solidFill>
            <a:srgbClr val="1A5C3A"/>
          </a:solidFill>
          <a:ln w="12700">
            <a:solidFill>
              <a:srgbClr val="2D7A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0" y="3108960"/>
            <a:ext cx="4572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OUI — sous conditions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detaillee — slide suivante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Jalon 1 — Evaluation de faisabilite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9601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Faisabilite technique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43000" y="130759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React + Node.js maitrisee. Architecture 4 couches definie. Simulations via iframes.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719072"/>
            <a:ext cx="8229600" cy="731520"/>
          </a:xfrm>
          <a:prstGeom prst="rect">
            <a:avLst/>
          </a:prstGeom>
          <a:solidFill>
            <a:srgbClr val="F8F7F3"/>
          </a:solidFill>
          <a:ln w="12700">
            <a:solidFill>
              <a:srgbClr val="E0E0E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56232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17647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clarifies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143000" y="2112264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valides en direct avec les acteurs. ACL, 3 niveaux de donnees, workflows actes.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" y="2523744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60904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256946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identifies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143000" y="2916936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(Laravel vs Spring Boot). Chatbot (OpenAI vs Ollama). Inventaire outils doctoraux.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328416"/>
            <a:ext cx="8229600" cy="731520"/>
          </a:xfrm>
          <a:prstGeom prst="rect">
            <a:avLst/>
          </a:prstGeom>
          <a:solidFill>
            <a:srgbClr val="F8F7F3"/>
          </a:solidFill>
          <a:ln w="12700">
            <a:solidFill>
              <a:srgbClr val="E0E0E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65576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337413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Perimetre realiste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1143000" y="3721608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Fonctionnalites critiques et hautes clairement definies et atteignables dans le delai.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57200" y="4133088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270248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43000" y="41788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pour UMMISCO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43000" y="452628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Reponse a un besoin reel : valorisation, centralisation, visibilite internationale.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Conditions &amp; Plan d'action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77640" cy="411480"/>
          </a:xfrm>
          <a:prstGeom prst="rect">
            <a:avLst/>
          </a:prstGeom>
          <a:solidFill>
            <a:srgbClr val="7A4A10"/>
          </a:solidFill>
          <a:ln w="12700">
            <a:solidFill>
              <a:srgbClr val="7A4A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au lancement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77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2704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481328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 stack backend : Laravel vs Spring Boot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221992"/>
            <a:ext cx="3977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3317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286000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 du nouveau logo UMMISCO (source prof)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3026664"/>
            <a:ext cx="3977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136392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090672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Inventaire des outils doctoraux a integrer en iframe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57200" y="3831336"/>
            <a:ext cx="3977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941064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3895344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chatbot IA : OpenAI (cloud) ou Ollama (local)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709160" y="914400"/>
            <a:ext cx="3977640" cy="41148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4709160" y="9144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etapes (Phase 2)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709160" y="1417320"/>
            <a:ext cx="3977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527048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349240" y="1481328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base de donnees + tables ACL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4709160" y="2221992"/>
            <a:ext cx="3977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331720"/>
            <a:ext cx="411480" cy="4114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349240" y="2286000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interactif avec nouvelle charte graphique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4709160" y="3026664"/>
            <a:ext cx="3977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136392"/>
            <a:ext cx="411480" cy="4114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349240" y="3090672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Maquettes pages secondaires (axe, profil, back-office)</a:t>
            </a:r>
            <a:endParaRPr lang="en-US" sz="1200" dirty="0"/>
          </a:p>
        </p:txBody>
      </p:sp>
      <p:sp>
        <p:nvSpPr>
          <p:cNvPr id="28" name="Shape 19"/>
          <p:cNvSpPr/>
          <p:nvPr/>
        </p:nvSpPr>
        <p:spPr>
          <a:xfrm>
            <a:off x="4709160" y="3831336"/>
            <a:ext cx="3977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3941064"/>
            <a:ext cx="411480" cy="41148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349240" y="3895344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chatbot et tests d'integration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5C3A">
              <a:alpha val="10000"/>
            </a:srgbClr>
          </a:solidFill>
          <a:ln w="12700">
            <a:solidFill>
              <a:srgbClr val="1A5C3A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500" kern="0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d'Inception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Completee.</a:t>
            </a:r>
            <a:endParaRPr lang="en-US" sz="5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214884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78608" y="21488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iterations realisees avec increments documentes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2807208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78608" y="280720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valides directement avec les acteurs UMMISCO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3465576"/>
            <a:ext cx="347472" cy="34747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578608" y="346557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 reference definie — React + Node.js</a:t>
            </a:r>
            <a:endParaRPr lang="en-US" sz="15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120" y="4123944"/>
            <a:ext cx="347472" cy="34747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578608" y="412394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 1 : projet faisable, phase d'Elaboration validee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Departement Genie Informatique — ESP / UCAD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IPDL UMMISCO — Phase Inception</dc:title>
  <dc:subject>PptxGenJS Presentation</dc:subject>
  <dc:creator>PptxGenJS</dc:creator>
  <cp:lastModifiedBy>PptxGenJS</cp:lastModifiedBy>
  <cp:revision>1</cp:revision>
  <dcterms:created xsi:type="dcterms:W3CDTF">2026-05-06T11:20:54Z</dcterms:created>
  <dcterms:modified xsi:type="dcterms:W3CDTF">2026-05-06T11:20:54Z</dcterms:modified>
</cp:coreProperties>
</file>